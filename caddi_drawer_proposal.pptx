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48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33333"/>
                </a:solidFill>
                <a:latin typeface="Arial"/>
              </a:rPr>
              <a:t>On-Time Delivery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3366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TitanForge</c:v>
                </c:pt>
                <c:pt idx="1">
                  <c:v>Stellar</c:v>
                </c:pt>
                <c:pt idx="2">
                  <c:v>Precision</c:v>
                </c:pt>
                <c:pt idx="3">
                  <c:v>Apex</c:v>
                </c:pt>
                <c:pt idx="4">
                  <c:v>AeroFlow</c:v>
                </c:pt>
                <c:pt idx="5">
                  <c:v>QuickFab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93.2</c:v>
                </c:pt>
                <c:pt idx="1">
                  <c:v>90.2</c:v>
                </c:pt>
                <c:pt idx="2">
                  <c:v>89.6</c:v>
                </c:pt>
                <c:pt idx="3">
                  <c:v>85</c:v>
                </c:pt>
                <c:pt idx="4">
                  <c:v>80.8</c:v>
                </c:pt>
                <c:pt idx="5">
                  <c:v>39.6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5D-4B3A-90D6-50915A0733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33333"/>
                </a:solidFill>
                <a:latin typeface="Arial"/>
              </a:rPr>
              <a:t>Rejection Rate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Rejection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QuickFab</c:v>
                </c:pt>
                <c:pt idx="1">
                  <c:v>Precision</c:v>
                </c:pt>
                <c:pt idx="2">
                  <c:v>AeroFlow</c:v>
                </c:pt>
                <c:pt idx="3">
                  <c:v>Apex</c:v>
                </c:pt>
                <c:pt idx="4">
                  <c:v>TitanForge</c:v>
                </c:pt>
                <c:pt idx="5">
                  <c:v>Stellar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15.6</c:v>
                </c:pt>
                <c:pt idx="1">
                  <c:v>3.6</c:v>
                </c:pt>
                <c:pt idx="2">
                  <c:v>2.6</c:v>
                </c:pt>
                <c:pt idx="3">
                  <c:v>2.5</c:v>
                </c:pt>
                <c:pt idx="4">
                  <c:v>2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5F-4AA5-9825-DD03EB74F8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8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CADDi Drawer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 Case Discovery &amp; Proposal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8288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Sample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Observations from the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decisions (supplier selection, quote validation) rely on manual Ordering System lookups and personal memory.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solves this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creates new drawings without systematic reference to existing, supplier-validated designs.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solves this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474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 (inspections, defects, past trouble info) is collected and stored, but never feeds back into procurement or design.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3474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 - biggest gap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Drawer Already Solves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capabilities shown in the solution diagram (blue arrows):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reference in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/ Detailed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proven designs instead of starting from scratch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matching at Procurement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Supplier Selection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who made similar parts - replace hallway conversations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for quote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Judgment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pricing and lead times against actuals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Issues - Even with Drawer Deployed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 never reaches procurement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shows who made similar parts - but not whether they passed or failed.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"In-house or Outsource" has zero system support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internal vs. external quality outcomes for similar geometries.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 bypass all evaluation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repeat products" shortcut skips supplier selection - even if performance has degraded.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 fragmentation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supplier under multiple names breaks performance tracking and Drawer's aggregated data.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Function: Quality-to-Drawing Feedback 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P1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results → Internal Server → stops 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drawing in Drawer with its inspection outcome (pass/fail, defect type, by supplier)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quality history when similar drawings enter procurement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in-house vs. outsourced outcomes for similar geometry at the make/buy decision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procurement knows "Supplier X failed on parts like this 3 times" before placing the next order.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drawing enters procurement, Drawer shows: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Drawer: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Similar past drawings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Which suppliers made them, at what cost, with what lead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new quality function: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Quality outcomes per supplier for similar drawings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Risk flags for specific supplier + part complexity combinations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In-house vs. outsource quality comparison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one drawing-centric view with cost, delivery, AND quality - replacing manual lookups and tribal knowledge.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Quality-to-Drawing feedback 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impact. Without it, Drawer shows suppliers but not outcomes.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Supplier-drawing matching at procurement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value. No development needed.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reference in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duplication. Lower urgency than procurement.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entity resolution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 - accurate data requires clean supplier identities.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Repeat-order re-evaluation trigger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degrading suppliers. Requires P1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Hoth Industries - Evidence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Hoth demonstrates exactly the broken quality feedback loop described in Part 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supplier (QuickFab) has 15.6% rejection and 60% late delivery.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Hoth placed 50 orders with them over 4 years. Quality data never reached procurement.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keep hearing 'we used them before and they had problems' AFTER we've already placed an order."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Mike, Procurement Manager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send out monthly supplier performance reports but I don't think anyone reads them."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Sarah, Procurement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don't work. The data needs to arrive at the decision - not wait to be found.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Hoth Data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orders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suppliers, 54 part numbers, Oct 2021 – Sep 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inspections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51,328 parts inspected, 2,227 rejected (4.3%)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RFQ quotes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lead time comparisons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in the data: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QuickFab: 39.6% on-time, 15.6% rejection, avg 12.9 days 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Apex Manufacturing appears under 4 different names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Quality inspections have no supplier field - had to join by quantity match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No drawing references on any record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058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058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6400800" cy="17190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TitanForge LLC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 Metalworks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Thermal 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Manufacturing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AeroFlow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QuickFab Industries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+12.9d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Supplier Recommendation Engine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what you need. It gives you the recommendation.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"200 aluminum heat exchangers for the data center project"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returns: recommended supplier, alternative, and who to avoid - with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follow-ups: "Why not QuickFab?" → specific rejection and delivery numbers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Entity resolution: consolidated 4 Apex name variants into 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Inspection join: matched quality data to suppliers by quantity (no supplier field existed)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TCO scoring: direct cost + rework cost + delay penalties per supplier per part category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How the Engine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50000"/>
            <a:ext cx="76809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1A"/>
                </a:solidFill>
                <a:latin typeface="Calibri"/>
              </a:defRPr>
            </a:pPr>
            <a:r>
              <a:t>From natural language input to data-backed supplier recommendation in 4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80000"/>
            <a:ext cx="340000" cy="2800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137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Calibri"/>
              </a:defRPr>
            </a:pPr>
            <a:r>
              <a:t>User types natural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160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r>
              <a:t>"200 aluminum heat exchangers for the data center project"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0000"/>
            <a:ext cx="340000" cy="2800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195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Calibri"/>
              </a:defRPr>
            </a:pPr>
            <a:r>
              <a:t>FAISS vector search matches to part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18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r>
              <a:t>Sentence-transformers (all-MiniLM-L6-v2) embeds the query. FAISS finds the nearest part category (HX). Scales to hundreds of categories without keyword 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0000"/>
            <a:ext cx="340000" cy="2800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000" y="253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Calibri"/>
              </a:defRPr>
            </a:pPr>
            <a:r>
              <a:t>TCO scoring ranks all suppliers for that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000" y="276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r>
              <a:t>effective_cost = unit_price x (1 + rejection_rate x 0.5 + late_rate x 0.2). Lowest true cost wins. Specialist tiebreaker from team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20000"/>
            <a:ext cx="340000" cy="2800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" y="311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1A"/>
                </a:solidFill>
                <a:latin typeface="Calibri"/>
              </a:defRPr>
            </a:pPr>
            <a:r>
              <a:t>Returns 3 results: Recommended, Alternative, Avoid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000" y="3340000"/>
            <a:ext cx="7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r>
              <a:t>Each card shows unit price, true cost (TCO), on-time %, rejection %, and team notes. User can ask follow-up questions via Claude chat.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TCO: Why the Cheapest Quote Isn't the Cheapest Supplier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980000"/>
            <a:ext cx="8000000" cy="4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effective_cost  =  unit_price  x  ( 1  +  rejection_rate x 0.5  +  late_rate x 0.2 )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2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2828"/>
                </a:solidFill>
                <a:latin typeface="Calibri"/>
              </a:defRPr>
            </a:pPr>
            <a:r>
              <a:t>Rejection rate x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2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r>
              <a:t>Each rejected part costs ~50% of unit price to rework or reorder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52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2828"/>
                </a:solidFill>
                <a:latin typeface="Calibri"/>
              </a:defRPr>
            </a:pPr>
            <a:r>
              <a:t>Late rate x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172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r>
              <a:t>Late deliveries add ~20% in expediting, idle lines, missed deadlines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50000"/>
            <a:ext cx="7680960" cy="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2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1A"/>
                </a:solidFill>
                <a:latin typeface="Calibri"/>
              </a:defRPr>
            </a:pPr>
            <a:r>
              <a:t>Example: Heat Exchangers (HX)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50000"/>
            <a:ext cx="3700000" cy="140000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000" y="2600000"/>
            <a:ext cx="3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2828"/>
                </a:solidFill>
                <a:latin typeface="Calibri"/>
              </a:defRPr>
            </a:pPr>
            <a:r>
              <a:t>QuickFab Industries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830000"/>
            <a:ext cx="3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Calibri"/>
              </a:defRPr>
            </a:pPr>
            <a:r>
              <a:t>Unit price: $1,473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020000"/>
            <a:ext cx="3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Rejection: 16.3%  |  Late: 62.5%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32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2828"/>
                </a:solidFill>
                <a:latin typeface="Calibri"/>
              </a:defRPr>
            </a:pPr>
            <a:r>
              <a:t>True cost: $1,777/unit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3500000"/>
            <a:ext cx="3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99999"/>
                </a:solidFill>
                <a:latin typeface="Calibri"/>
              </a:defRPr>
            </a:pPr>
            <a:r>
              <a:t>Looks cheapest. Actually most expensive.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000" y="2550000"/>
            <a:ext cx="3700000" cy="14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70000" y="2600000"/>
            <a:ext cx="3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Apex 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0000" y="2830000"/>
            <a:ext cx="3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Calibri"/>
              </a:defRPr>
            </a:pPr>
            <a:r>
              <a:t>Unit price: $1,627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0000" y="3020000"/>
            <a:ext cx="3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Rejection: 2.6%  |  Late: 17.5%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0000" y="32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Calibri"/>
              </a:defRPr>
            </a:pPr>
            <a:r>
              <a:t>True cost: $1,648/unit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0000" y="3500000"/>
            <a:ext cx="3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99999"/>
                </a:solidFill>
                <a:latin typeface="Calibri"/>
              </a:defRPr>
            </a:pPr>
            <a:r>
              <a:t>Higher sticker price. Lower true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00000" y="4200000"/>
            <a:ext cx="5500000" cy="3500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7377"/>
                </a:solidFill>
                <a:latin typeface="Calibri"/>
              </a:defRPr>
            </a:pPr>
            <a:r>
              <a:t>Apex saves $129/unit vs QuickFab despite $154 higher sticker price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Tech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50000"/>
            <a:ext cx="2500000" cy="20000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0000" y="1100000"/>
            <a:ext cx="2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7377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35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500 purchase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51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200 quality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67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92 RFQ quotes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83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Unstructured team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07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Entity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23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Inspection-to-supplier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39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TCO scoring per supplier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1520" y="1050000"/>
            <a:ext cx="2500000" cy="200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50000" y="1100000"/>
            <a:ext cx="2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565C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000" y="135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Python +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000" y="151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pandas (in-memory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000" y="167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FAISS vector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000" y="183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sentence-transformers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000" y="199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(all-MiniLM-L6-v2)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000" y="223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4 API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0000" y="239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t>No database needed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1520" y="1050000"/>
            <a:ext cx="2500000" cy="200000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0000" y="1100000"/>
            <a:ext cx="2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E57C2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000" y="135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Anthropic Claude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000" y="151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claude-sonnet-4-20250514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0000" y="175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System prompt includes: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0000" y="191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All supplier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0" y="207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Team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0000" y="223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Current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0000" y="2470000"/>
            <a:ext cx="22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Follow-up Q&amp;A with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250000"/>
            <a:ext cx="7680960" cy="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35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600000"/>
            <a:ext cx="8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Calibri"/>
              </a:defRPr>
            </a:pPr>
            <a:r>
              <a:t>FAISS for part matching    Scales to hundreds of categories. No keyword map maintenance.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820000"/>
            <a:ext cx="8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Calibri"/>
              </a:defRPr>
            </a:pPr>
            <a:r>
              <a:t>TCO as single ranking metric    One number anyone can understand. No arbitrary weight tuning.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040000"/>
            <a:ext cx="8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Calibri"/>
              </a:defRPr>
            </a:pPr>
            <a:r>
              <a:t>Claude for follow-ups only    Recommendation is deterministic from data. AI handles the conversation, not the decision.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8288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1332</Words>
  <Application>Microsoft Office PowerPoint</Application>
  <PresentationFormat>On-screen Show (16:9)</PresentationFormat>
  <Paragraphs>233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CADDi Drawer - Use Case Discovery &amp; Proposal</dc:title>
  <dc:subject>PptxGenJS Presentation</dc:subject>
  <dc:creator>PptxGenJS</dc:creator>
  <cp:lastModifiedBy>Vincent Tambellini</cp:lastModifiedBy>
  <cp:revision>2</cp:revision>
  <dcterms:created xsi:type="dcterms:W3CDTF">2026-03-16T04:51:10Z</dcterms:created>
  <dcterms:modified xsi:type="dcterms:W3CDTF">2026-03-16T14:38:51Z</dcterms:modified>
</cp:coreProperties>
</file>